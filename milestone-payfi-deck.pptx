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EB9C2"/>
                </a:solidFill>
                <a:latin typeface="Courier New"/>
              </a:rPr>
              <a:t>ENCODE CLUB ×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74519"/>
            <a:ext cx="10509199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8800" b="1">
                <a:solidFill>
                  <a:srgbClr val="F5F7F4"/>
                </a:solidFill>
                <a:latin typeface="Arial"/>
              </a:rPr>
              <a:t>MILESTONE</a:t>
            </a:r>
          </a:p>
          <a:p>
            <a:pPr algn="l">
              <a:lnSpc>
                <a:spcPct val="98000"/>
              </a:lnSpc>
              <a:spcBef>
                <a:spcPts val="200"/>
              </a:spcBef>
            </a:pPr>
            <a:r>
              <a:rPr sz="8800" b="1">
                <a:solidFill>
                  <a:srgbClr val="8FAEFF"/>
                </a:solidFill>
                <a:latin typeface="Arial"/>
              </a:rPr>
              <a:t>PAYFI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407408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F5F7F4"/>
                </a:solidFill>
                <a:latin typeface="Arial"/>
              </a:rPr>
              <a:t>Approved work  </a:t>
            </a:r>
            <a:r>
              <a:rPr sz="2600" b="1">
                <a:solidFill>
                  <a:srgbClr val="8FAEFF"/>
                </a:solidFill>
                <a:latin typeface="Arial"/>
              </a:rPr>
              <a:t>→</a:t>
            </a:r>
            <a:r>
              <a:rPr sz="2600" b="0">
                <a:solidFill>
                  <a:srgbClr val="F5F7F4"/>
                </a:solidFill>
                <a:latin typeface="Arial"/>
              </a:rPr>
              <a:t>  instant working capital.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175504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EB9C2"/>
                </a:solidFill>
                <a:latin typeface="Courier New"/>
              </a:rPr>
              <a:t>USDC ESCROW × RECEIVABLE POOL × AGENTS   ·   LIVE ON ARC TESTNET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5CFF"/>
                </a:solidFill>
                <a:latin typeface="Courier New"/>
              </a:rPr>
              <a:t>01</a:t>
            </a:r>
            <a:r>
              <a:rPr sz="1300" b="1">
                <a:solidFill>
                  <a:srgbClr val="66727A"/>
                </a:solidFill>
                <a:latin typeface="Courier New"/>
              </a:rPr>
              <a:t> 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>
                <a:solidFill>
                  <a:srgbClr val="101312"/>
                </a:solidFill>
                <a:latin typeface="Arial"/>
              </a:rPr>
              <a:t>Approved </a:t>
            </a:r>
            <a:r>
              <a:rPr sz="5800" b="1">
                <a:solidFill>
                  <a:srgbClr val="245CFF"/>
                </a:solidFill>
                <a:latin typeface="Arial"/>
              </a:rPr>
              <a:t>≠</a:t>
            </a:r>
            <a:r>
              <a:rPr sz="5800" b="1">
                <a:solidFill>
                  <a:srgbClr val="101312"/>
                </a:solidFill>
                <a:latin typeface="Arial"/>
              </a:rPr>
              <a:t> paid.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31720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01312"/>
                </a:solidFill>
                <a:latin typeface="Arial"/>
              </a:rPr>
              <a:t>Work accepted on Monday.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2200" b="0">
                <a:solidFill>
                  <a:srgbClr val="66727A"/>
                </a:solidFill>
                <a:latin typeface="Arial"/>
              </a:rPr>
              <a:t>Cash in Net-30. Net-60. </a:t>
            </a:r>
            <a:r>
              <a:rPr sz="2200" b="1">
                <a:solidFill>
                  <a:srgbClr val="101312"/>
                </a:solidFill>
                <a:latin typeface="Arial"/>
              </a:rPr>
              <a:t>Net-never.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794760"/>
            <a:ext cx="33832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3794760"/>
            <a:ext cx="2907792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01312"/>
                </a:solidFill>
                <a:latin typeface="Arial"/>
              </a:rPr>
              <a:t>WAITING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66727A"/>
                </a:solidFill>
                <a:latin typeface="Arial"/>
              </a:rPr>
              <a:t>delivery done, cash 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3794760"/>
            <a:ext cx="33832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3794760"/>
            <a:ext cx="2907792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01312"/>
                </a:solidFill>
                <a:latin typeface="Arial"/>
              </a:rPr>
              <a:t>NO COLLATERAL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66727A"/>
                </a:solidFill>
                <a:latin typeface="Arial"/>
              </a:rPr>
              <a:t>an invoice banks won't touch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794760"/>
            <a:ext cx="33832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3794760"/>
            <a:ext cx="2907792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01312"/>
                </a:solidFill>
                <a:latin typeface="Arial"/>
              </a:rPr>
              <a:t>NO CREDIT FILE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>
                <a:solidFill>
                  <a:srgbClr val="66727A"/>
                </a:solidFill>
                <a:latin typeface="Arial"/>
              </a:rPr>
              <a:t>thin-file by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D9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MILESTONE PAYFI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66727A"/>
                </a:solidFill>
                <a:latin typeface="Courier New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5CFF"/>
                </a:solidFill>
                <a:latin typeface="Courier New"/>
              </a:rPr>
              <a:t>01</a:t>
            </a:r>
            <a:r>
              <a:rPr sz="1300" b="1">
                <a:solidFill>
                  <a:srgbClr val="66727A"/>
                </a:solidFill>
                <a:latin typeface="Courier New"/>
              </a:rPr>
              <a:t> 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>
                <a:solidFill>
                  <a:srgbClr val="101312"/>
                </a:solidFill>
                <a:latin typeface="Arial"/>
              </a:rPr>
              <a:t>Today's options.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6727A"/>
                </a:solidFill>
                <a:latin typeface="Arial"/>
              </a:rPr>
              <a:t>Every route costs time, margin, or dignity.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29184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28712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312"/>
                </a:solidFill>
                <a:latin typeface="Arial"/>
              </a:rPr>
              <a:t>WAIT IT OUT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350" b="1">
                <a:solidFill>
                  <a:srgbClr val="245CFF"/>
                </a:solidFill>
                <a:latin typeface="Courier New"/>
              </a:rPr>
              <a:t>free · slow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66727A"/>
                </a:solidFill>
                <a:latin typeface="Arial"/>
              </a:rPr>
              <a:t>rent is due now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3984" y="329184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3566160"/>
            <a:ext cx="28712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312"/>
                </a:solidFill>
                <a:latin typeface="Arial"/>
              </a:rPr>
              <a:t>FACTORING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350" b="1">
                <a:solidFill>
                  <a:srgbClr val="245CFF"/>
                </a:solidFill>
                <a:latin typeface="Courier New"/>
              </a:rPr>
              <a:t>paperwork · minimums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66727A"/>
                </a:solidFill>
                <a:latin typeface="Arial"/>
              </a:rPr>
              <a:t>built for big balance sheets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29184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3566160"/>
            <a:ext cx="28712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312"/>
                </a:solidFill>
                <a:latin typeface="Arial"/>
              </a:rPr>
              <a:t>PAYDAY APPS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350" b="1">
                <a:solidFill>
                  <a:srgbClr val="245CFF"/>
                </a:solidFill>
                <a:latin typeface="Courier New"/>
              </a:rPr>
              <a:t>wages, not invoices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66727A"/>
                </a:solidFill>
                <a:latin typeface="Arial"/>
              </a:rPr>
              <a:t>wrong asset entirely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D9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MILESTONE PAYFI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66727A"/>
                </a:solidFill>
                <a:latin typeface="Courier New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AEFF"/>
                </a:solidFill>
                <a:latin typeface="Courier New"/>
              </a:rPr>
              <a:t>02</a:t>
            </a:r>
            <a:r>
              <a:rPr sz="1300" b="1">
                <a:solidFill>
                  <a:srgbClr val="AEB9C2"/>
                </a:solidFill>
                <a:latin typeface="Courier New"/>
              </a:rPr>
              <a:t>   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>
                <a:solidFill>
                  <a:srgbClr val="F5F7F4"/>
                </a:solidFill>
                <a:latin typeface="Arial"/>
              </a:rPr>
              <a:t>Approval flips the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743200"/>
            <a:ext cx="5138928" cy="1737360"/>
          </a:xfrm>
          <a:prstGeom prst="roundRect">
            <a:avLst>
              <a:gd name="adj" fmla="val 8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999232"/>
            <a:ext cx="45902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EB9C2"/>
                </a:solidFill>
                <a:latin typeface="Courier New"/>
              </a:rPr>
              <a:t>BEFORE APPROVAL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2000" b="1">
                <a:solidFill>
                  <a:srgbClr val="F5F7F4"/>
                </a:solidFill>
                <a:latin typeface="Arial"/>
              </a:rPr>
              <a:t>delivery risk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AEB9C2"/>
                </a:solidFill>
                <a:latin typeface="Arial"/>
              </a:rPr>
              <a:t>escrow protects the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4496" y="2743200"/>
            <a:ext cx="5138928" cy="1737360"/>
          </a:xfrm>
          <a:prstGeom prst="roundRect">
            <a:avLst>
              <a:gd name="adj" fmla="val 8000"/>
            </a:avLst>
          </a:prstGeom>
          <a:solidFill>
            <a:srgbClr val="1B201E"/>
          </a:solidFill>
          <a:ln w="17780">
            <a:solidFill>
              <a:srgbClr val="8FA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8816" y="2999232"/>
            <a:ext cx="45902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FAEFF"/>
                </a:solidFill>
                <a:latin typeface="Courier New"/>
              </a:rPr>
              <a:t>AFTER APPROVAL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2000" b="1">
                <a:solidFill>
                  <a:srgbClr val="F5F7F4"/>
                </a:solidFill>
                <a:latin typeface="Arial"/>
              </a:rPr>
              <a:t>funded USDC claim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AEB9C2"/>
                </a:solidFill>
                <a:latin typeface="Arial"/>
              </a:rPr>
              <a:t>financeable · programmable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92040"/>
            <a:ext cx="10509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8FAEFF"/>
                </a:solidFill>
                <a:latin typeface="Arial"/>
              </a:rPr>
              <a:t>Approved work = a programmable receivable.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2C3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MILESTONE PAYFI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AEB9C2"/>
                </a:solidFill>
                <a:latin typeface="Courier New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5CFF"/>
                </a:solidFill>
                <a:latin typeface="Courier New"/>
              </a:rPr>
              <a:t>03</a:t>
            </a:r>
            <a:r>
              <a:rPr sz="1300" b="1">
                <a:solidFill>
                  <a:srgbClr val="66727A"/>
                </a:solidFill>
                <a:latin typeface="Courier New"/>
              </a:rPr>
              <a:t>  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>
                <a:solidFill>
                  <a:srgbClr val="101312"/>
                </a:solidFill>
                <a:latin typeface="Arial"/>
              </a:rPr>
              <a:t>One shared task room.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6727A"/>
                </a:solidFill>
                <a:latin typeface="Arial"/>
              </a:rPr>
              <a:t>Not a dashboard. A room both sides already understand.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2004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493008"/>
            <a:ext cx="274320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730752"/>
            <a:ext cx="28712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312"/>
                </a:solidFill>
                <a:latin typeface="Arial"/>
              </a:rPr>
              <a:t>CLIENT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sz="1350" b="1">
                <a:solidFill>
                  <a:srgbClr val="245CFF"/>
                </a:solidFill>
                <a:latin typeface="Courier New"/>
              </a:rPr>
              <a:t>funds · approves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66727A"/>
                </a:solidFill>
                <a:latin typeface="Arial"/>
              </a:rPr>
              <a:t>protection until work is accepted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32004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0016" y="3493008"/>
            <a:ext cx="274320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3730752"/>
            <a:ext cx="28712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312"/>
                </a:solidFill>
                <a:latin typeface="Arial"/>
              </a:rPr>
              <a:t>FREELANCER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sz="1350" b="1">
                <a:solidFill>
                  <a:srgbClr val="245CFF"/>
                </a:solidFill>
                <a:latin typeface="Courier New"/>
              </a:rPr>
              <a:t>submits · draws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66727A"/>
                </a:solidFill>
                <a:latin typeface="Arial"/>
              </a:rPr>
              <a:t>cash at approval, not Net-30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200400"/>
            <a:ext cx="33832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2" y="3493008"/>
            <a:ext cx="274320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730752"/>
            <a:ext cx="28712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312"/>
                </a:solidFill>
                <a:latin typeface="Arial"/>
              </a:rPr>
              <a:t>LIQUIDITY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sz="1350" b="1">
                <a:solidFill>
                  <a:srgbClr val="245CFF"/>
                </a:solidFill>
                <a:latin typeface="Courier New"/>
              </a:rPr>
              <a:t>advances · earns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66727A"/>
                </a:solidFill>
                <a:latin typeface="Arial"/>
              </a:rPr>
              <a:t>short-duration, escrow-backed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25780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66727A"/>
                </a:solidFill>
                <a:latin typeface="Courier New"/>
              </a:rPr>
              <a:t>CCTP APP KITS — FUND FROM ANY CHAIN   ·   AGENTIC LAYER BUILT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D9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MILESTONE PAYFI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66727A"/>
                </a:solidFill>
                <a:latin typeface="Courier New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AEFF"/>
                </a:solidFill>
                <a:latin typeface="Courier New"/>
              </a:rPr>
              <a:t>04</a:t>
            </a:r>
            <a:r>
              <a:rPr sz="1300" b="1">
                <a:solidFill>
                  <a:srgbClr val="AEB9C2"/>
                </a:solidFill>
                <a:latin typeface="Courier New"/>
              </a:rPr>
              <a:t> 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>
                <a:solidFill>
                  <a:srgbClr val="F5F7F4"/>
                </a:solidFill>
                <a:latin typeface="Arial"/>
              </a:rPr>
              <a:t>Five steps. One room.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063240"/>
            <a:ext cx="1794601" cy="1645920"/>
          </a:xfrm>
          <a:prstGeom prst="roundRect">
            <a:avLst>
              <a:gd name="adj" fmla="val 10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300984"/>
            <a:ext cx="142884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9C2"/>
                </a:solidFill>
                <a:latin typeface="Courier New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700"/>
              </a:spcBef>
            </a:pPr>
            <a:r>
              <a:rPr sz="1700" b="1">
                <a:solidFill>
                  <a:srgbClr val="F5F7F4"/>
                </a:solidFill>
                <a:latin typeface="Arial"/>
              </a:rPr>
              <a:t>FUND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0">
                <a:solidFill>
                  <a:srgbClr val="AEB9C2"/>
                </a:solidFill>
                <a:latin typeface="Arial"/>
              </a:rPr>
              <a:t>client locks USDC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7561" y="3630168"/>
            <a:ext cx="438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8FAEFF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9897" y="3063240"/>
            <a:ext cx="1794601" cy="1645920"/>
          </a:xfrm>
          <a:prstGeom prst="roundRect">
            <a:avLst>
              <a:gd name="adj" fmla="val 10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2777" y="3300984"/>
            <a:ext cx="142884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9C2"/>
                </a:solidFill>
                <a:latin typeface="Courier New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700"/>
              </a:spcBef>
            </a:pPr>
            <a:r>
              <a:rPr sz="1700" b="1">
                <a:solidFill>
                  <a:srgbClr val="F5F7F4"/>
                </a:solidFill>
                <a:latin typeface="Arial"/>
              </a:rPr>
              <a:t>SUBMIT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0">
                <a:solidFill>
                  <a:srgbClr val="AEB9C2"/>
                </a:solidFill>
                <a:latin typeface="Arial"/>
              </a:rPr>
              <a:t>evidence in 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6210" y="3630168"/>
            <a:ext cx="438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8FAEFF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8546" y="3063240"/>
            <a:ext cx="1794601" cy="1645920"/>
          </a:xfrm>
          <a:prstGeom prst="roundRect">
            <a:avLst>
              <a:gd name="adj" fmla="val 10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81426" y="3300984"/>
            <a:ext cx="142884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9C2"/>
                </a:solidFill>
                <a:latin typeface="Courier New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700"/>
              </a:spcBef>
            </a:pPr>
            <a:r>
              <a:rPr sz="1700" b="1">
                <a:solidFill>
                  <a:srgbClr val="F5F7F4"/>
                </a:solidFill>
                <a:latin typeface="Arial"/>
              </a:rPr>
              <a:t>APPROVE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0">
                <a:solidFill>
                  <a:srgbClr val="AEB9C2"/>
                </a:solidFill>
                <a:latin typeface="Arial"/>
              </a:rPr>
              <a:t>receivable born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4860" y="3630168"/>
            <a:ext cx="438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8FAEFF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7196" y="3063240"/>
            <a:ext cx="1794601" cy="1645920"/>
          </a:xfrm>
          <a:prstGeom prst="roundRect">
            <a:avLst>
              <a:gd name="adj" fmla="val 10000"/>
            </a:avLst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0076" y="3300984"/>
            <a:ext cx="142884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ourier New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700"/>
              </a:spcBef>
            </a:pPr>
            <a:r>
              <a:rPr sz="1700" b="1">
                <a:solidFill>
                  <a:srgbClr val="FFFFFF"/>
                </a:solidFill>
                <a:latin typeface="Arial"/>
              </a:rPr>
              <a:t>PAY NOW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0">
                <a:solidFill>
                  <a:srgbClr val="D5DEFF"/>
                </a:solidFill>
                <a:latin typeface="Arial"/>
              </a:rPr>
              <a:t>agent-scored advance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509" y="3630168"/>
            <a:ext cx="4389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8FAEFF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845" y="3063240"/>
            <a:ext cx="1794601" cy="1645920"/>
          </a:xfrm>
          <a:prstGeom prst="roundRect">
            <a:avLst>
              <a:gd name="adj" fmla="val 10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725" y="3300984"/>
            <a:ext cx="1428841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AEB9C2"/>
                </a:solidFill>
                <a:latin typeface="Courier New"/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700"/>
              </a:spcBef>
            </a:pPr>
            <a:r>
              <a:rPr sz="1700" b="1">
                <a:solidFill>
                  <a:srgbClr val="F5F7F4"/>
                </a:solidFill>
                <a:latin typeface="Arial"/>
              </a:rPr>
              <a:t>SETTLE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0">
                <a:solidFill>
                  <a:srgbClr val="AEB9C2"/>
                </a:solidFill>
                <a:latin typeface="Arial"/>
              </a:rPr>
              <a:t>agent repays 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12064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EB9C2"/>
                </a:solidFill>
                <a:latin typeface="Courier New"/>
              </a:rPr>
              <a:t>STATE LIVES ON ARC   ·   AGENTS RUN RISK + SETTLEMENT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2C3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MILESTONE PAYFI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AEB9C2"/>
                </a:solidFill>
                <a:latin typeface="Courier New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AEFF"/>
                </a:solidFill>
                <a:latin typeface="Courier New"/>
              </a:rPr>
              <a:t>04</a:t>
            </a:r>
            <a:r>
              <a:rPr sz="1300" b="1">
                <a:solidFill>
                  <a:srgbClr val="AEB9C2"/>
                </a:solidFill>
                <a:latin typeface="Courier New"/>
              </a:rPr>
              <a:t> 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>
                <a:solidFill>
                  <a:srgbClr val="F5F7F4"/>
                </a:solidFill>
                <a:latin typeface="Arial"/>
              </a:rPr>
              <a:t>Approval is the </a:t>
            </a:r>
            <a:r>
              <a:rPr sz="4800" b="1">
                <a:solidFill>
                  <a:srgbClr val="8FAEFF"/>
                </a:solidFill>
                <a:latin typeface="Arial"/>
              </a:rPr>
              <a:t>PayFi moment.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9888" y="2926080"/>
            <a:ext cx="4206240" cy="1554480"/>
          </a:xfrm>
          <a:prstGeom prst="roundRect">
            <a:avLst>
              <a:gd name="adj" fmla="val 8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9888" y="2926080"/>
            <a:ext cx="42062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AEB9C2"/>
                </a:solidFill>
                <a:latin typeface="Arial"/>
              </a:rPr>
              <a:t>ESCROW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300" b="0">
                <a:solidFill>
                  <a:srgbClr val="AEB9C2"/>
                </a:solidFill>
                <a:latin typeface="Arial"/>
              </a:rPr>
              <a:t>locked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6128" y="3383280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8FAEFF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926080"/>
            <a:ext cx="4206240" cy="1554480"/>
          </a:xfrm>
          <a:prstGeom prst="roundRect">
            <a:avLst>
              <a:gd name="adj" fmla="val 8000"/>
            </a:avLst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2926080"/>
            <a:ext cx="42062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Arial"/>
              </a:rPr>
              <a:t>RECEIVABLE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sz="1300" b="0">
                <a:solidFill>
                  <a:srgbClr val="D5DEFF"/>
                </a:solidFill>
                <a:latin typeface="Arial"/>
              </a:rPr>
              <a:t>instantly financeable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98348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EB9C2"/>
                </a:solidFill>
                <a:latin typeface="Courier New"/>
              </a:rPr>
              <a:t>SAME FUNDS   ·   NEW ASSET   ·   ZERO NEW RISK TO THE CLIENT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2C3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MILESTONE PAYFI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AEB9C2"/>
                </a:solidFill>
                <a:latin typeface="Courier New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5CFF"/>
                </a:solidFill>
                <a:latin typeface="Courier New"/>
              </a:rPr>
              <a:t>05</a:t>
            </a:r>
            <a:r>
              <a:rPr sz="1300" b="1">
                <a:solidFill>
                  <a:srgbClr val="66727A"/>
                </a:solidFill>
                <a:latin typeface="Courier New"/>
              </a:rPr>
              <a:t>   WHY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>
                <a:solidFill>
                  <a:srgbClr val="101312"/>
                </a:solidFill>
                <a:latin typeface="Arial"/>
              </a:rPr>
              <a:t>Three incentives. One pool.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06324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28712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312"/>
                </a:solidFill>
                <a:latin typeface="Arial"/>
              </a:rPr>
              <a:t>CLIENT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1">
                <a:solidFill>
                  <a:srgbClr val="08765E"/>
                </a:solidFill>
                <a:latin typeface="Arial"/>
              </a:rPr>
              <a:t>pay only for approved work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66727A"/>
                </a:solidFill>
                <a:latin typeface="Arial"/>
              </a:rPr>
              <a:t>escrow protection, unchanged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3984" y="306324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3337560"/>
            <a:ext cx="28712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312"/>
                </a:solidFill>
                <a:latin typeface="Arial"/>
              </a:rPr>
              <a:t>FREELANCER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1">
                <a:solidFill>
                  <a:srgbClr val="08765E"/>
                </a:solidFill>
                <a:latin typeface="Arial"/>
              </a:rPr>
              <a:t>cash at approval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66727A"/>
                </a:solidFill>
                <a:latin typeface="Arial"/>
              </a:rPr>
              <a:t>not Net-30 · not a loan shark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063240"/>
            <a:ext cx="33832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3337560"/>
            <a:ext cx="287121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01312"/>
                </a:solidFill>
                <a:latin typeface="Arial"/>
              </a:rPr>
              <a:t>LP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sz="1500" b="1">
                <a:solidFill>
                  <a:srgbClr val="08765E"/>
                </a:solidFill>
                <a:latin typeface="Arial"/>
              </a:rPr>
              <a:t>short-duration yield</a:t>
            </a:r>
          </a:p>
          <a:p>
            <a:pPr algn="l">
              <a:lnSpc>
                <a:spcPct val="100000"/>
              </a:lnSpc>
              <a:spcBef>
                <a:spcPts val="500"/>
              </a:spcBef>
            </a:pPr>
            <a:r>
              <a:rPr sz="1350" b="0">
                <a:solidFill>
                  <a:srgbClr val="66727A"/>
                </a:solidFill>
                <a:latin typeface="Arial"/>
              </a:rPr>
              <a:t>repaid from funded escrow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D9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MILESTONE PAYFI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66727A"/>
                </a:solidFill>
                <a:latin typeface="Courier New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5CFF"/>
                </a:solidFill>
                <a:latin typeface="Courier New"/>
              </a:rPr>
              <a:t>06</a:t>
            </a:r>
            <a:r>
              <a:rPr sz="1300" b="1">
                <a:solidFill>
                  <a:srgbClr val="66727A"/>
                </a:solidFill>
                <a:latin typeface="Courier New"/>
              </a:rPr>
              <a:t>   RISK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101312"/>
                </a:solidFill>
                <a:latin typeface="Arial"/>
              </a:rPr>
              <a:t>Not every invoice gets funded.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9456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66727A"/>
                </a:solidFill>
                <a:latin typeface="Arial"/>
              </a:rPr>
              <a:t>An onchain policy gates every advance — before liquidity moves.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200400"/>
            <a:ext cx="52303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3593592"/>
            <a:ext cx="128016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3200400"/>
            <a:ext cx="44988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312"/>
                </a:solidFill>
                <a:latin typeface="Arial"/>
              </a:rPr>
              <a:t>onchain risk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3200400"/>
            <a:ext cx="52303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28816" y="3593592"/>
            <a:ext cx="128016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3200400"/>
            <a:ext cx="44988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312"/>
                </a:solidFill>
                <a:latin typeface="Arial"/>
              </a:rPr>
              <a:t>same-wallet fraud block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279392"/>
            <a:ext cx="52303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2" y="4672584"/>
            <a:ext cx="128016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9888" y="4279392"/>
            <a:ext cx="44988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312"/>
                </a:solidFill>
                <a:latin typeface="Arial"/>
              </a:rPr>
              <a:t>45-day tenor cap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4279392"/>
            <a:ext cx="52303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28816" y="4672584"/>
            <a:ext cx="128016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4279392"/>
            <a:ext cx="44988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312"/>
                </a:solidFill>
                <a:latin typeface="Arial"/>
              </a:rPr>
              <a:t>65% utilization cap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5358384"/>
            <a:ext cx="52303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992" y="5751576"/>
            <a:ext cx="128016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5358384"/>
            <a:ext cx="44988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312"/>
                </a:solidFill>
                <a:latin typeface="Arial"/>
              </a:rPr>
              <a:t>client + freelancer exposure caps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5358384"/>
            <a:ext cx="523036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28816" y="5751576"/>
            <a:ext cx="128016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5358384"/>
            <a:ext cx="4498848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01312"/>
                </a:solidFill>
                <a:latin typeface="Arial"/>
              </a:rPr>
              <a:t>time-based discount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D9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MILESTONE PAYFI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66727A"/>
                </a:solidFill>
                <a:latin typeface="Courier New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AEFF"/>
                </a:solidFill>
                <a:latin typeface="Courier New"/>
              </a:rPr>
              <a:t>07</a:t>
            </a:r>
            <a:r>
              <a:rPr sz="1300" b="1">
                <a:solidFill>
                  <a:srgbClr val="AEB9C2"/>
                </a:solidFill>
                <a:latin typeface="Courier New"/>
              </a:rPr>
              <a:t>   THE AGENTIC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>
                <a:solidFill>
                  <a:srgbClr val="F5F7F4"/>
                </a:solidFill>
                <a:latin typeface="Arial"/>
              </a:rPr>
              <a:t>No human </a:t>
            </a:r>
            <a:r>
              <a:rPr sz="5800" b="1">
                <a:solidFill>
                  <a:srgbClr val="8FAEFF"/>
                </a:solidFill>
                <a:latin typeface="Arial"/>
              </a:rPr>
              <a:t>in the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3172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AEB9C2"/>
                </a:solidFill>
                <a:latin typeface="Arial"/>
              </a:rPr>
              <a:t>Risk and settlement run themselves — with revocable onchain delegation.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315468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429000"/>
            <a:ext cx="274320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666744"/>
            <a:ext cx="2871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7F4"/>
                </a:solidFill>
                <a:latin typeface="Arial"/>
              </a:rPr>
              <a:t>UNDERWRITER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sz="1300" b="1">
                <a:solidFill>
                  <a:srgbClr val="8FAEFF"/>
                </a:solidFill>
                <a:latin typeface="Courier New"/>
              </a:rPr>
              <a:t>scores · publishes policy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200" b="0">
                <a:solidFill>
                  <a:srgbClr val="AEB9C2"/>
                </a:solidFill>
                <a:latin typeface="Arial"/>
              </a:rPr>
              <a:t>signals: liquidity · exposure · tenor · fraud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315468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0016" y="3429000"/>
            <a:ext cx="274320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3666744"/>
            <a:ext cx="2871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7F4"/>
                </a:solidFill>
                <a:latin typeface="Arial"/>
              </a:rPr>
              <a:t>SETTLER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sz="1300" b="1">
                <a:solidFill>
                  <a:srgbClr val="8FAEFF"/>
                </a:solidFill>
                <a:latin typeface="Courier New"/>
              </a:rPr>
              <a:t>closes · repays pool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200" b="0">
                <a:solidFill>
                  <a:srgbClr val="AEB9C2"/>
                </a:solidFill>
                <a:latin typeface="Arial"/>
              </a:rPr>
              <a:t>permissionless release at maturity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15468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02752" y="3429000"/>
            <a:ext cx="274320" cy="128016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3666744"/>
            <a:ext cx="287121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5F7F4"/>
                </a:solidFill>
                <a:latin typeface="Arial"/>
              </a:rPr>
              <a:t>IDENTITY</a:t>
            </a:r>
          </a:p>
          <a:p>
            <a:pPr algn="l">
              <a:lnSpc>
                <a:spcPct val="100000"/>
              </a:lnSpc>
              <a:spcBef>
                <a:spcPts val="900"/>
              </a:spcBef>
            </a:pPr>
            <a:r>
              <a:rPr sz="1300" b="1">
                <a:solidFill>
                  <a:srgbClr val="8FAEFF"/>
                </a:solidFill>
                <a:latin typeface="Courier New"/>
              </a:rPr>
              <a:t>ERC-8004 on Arc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200" b="0">
                <a:solidFill>
                  <a:srgbClr val="AEB9C2"/>
                </a:solidFill>
                <a:latin typeface="Arial"/>
              </a:rPr>
              <a:t>agent 851709 · owner can revoke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2C3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MILESTONE PAYFI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AEB9C2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AEFF"/>
                </a:solidFill>
                <a:latin typeface="Courier New"/>
              </a:rPr>
              <a:t>08</a:t>
            </a:r>
            <a:r>
              <a:rPr sz="1300" b="1">
                <a:solidFill>
                  <a:srgbClr val="AEB9C2"/>
                </a:solidFill>
                <a:latin typeface="Courier New"/>
              </a:rPr>
              <a:t>   WHY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>
                <a:solidFill>
                  <a:srgbClr val="F5F7F4"/>
                </a:solidFill>
                <a:latin typeface="Arial"/>
              </a:rPr>
              <a:t>Programmable money,</a:t>
            </a:r>
          </a:p>
          <a:p>
            <a:pPr algn="l">
              <a:lnSpc>
                <a:spcPct val="102000"/>
              </a:lnSpc>
              <a:spcBef>
                <a:spcPts val="200"/>
              </a:spcBef>
            </a:pPr>
            <a:r>
              <a:rPr sz="5400" b="1">
                <a:solidFill>
                  <a:srgbClr val="8FAEFF"/>
                </a:solidFill>
                <a:latin typeface="Arial"/>
              </a:rPr>
              <a:t>real settlement.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291840"/>
            <a:ext cx="2462707" cy="1737360"/>
          </a:xfrm>
          <a:prstGeom prst="roundRect">
            <a:avLst>
              <a:gd name="adj" fmla="val 10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3547872"/>
            <a:ext cx="20237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8FAEFF"/>
                </a:solidFill>
                <a:latin typeface="Courier New"/>
              </a:rPr>
              <a:t>USDC-NATIVE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AEB9C2"/>
                </a:solidFill>
                <a:latin typeface="Arial"/>
              </a:rPr>
              <a:t>the asset is the rail — gas too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3411" y="3291840"/>
            <a:ext cx="2462707" cy="1737360"/>
          </a:xfrm>
          <a:prstGeom prst="roundRect">
            <a:avLst>
              <a:gd name="adj" fmla="val 10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2867" y="3547872"/>
            <a:ext cx="20237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8FAEFF"/>
                </a:solidFill>
                <a:latin typeface="Courier New"/>
              </a:rPr>
              <a:t>EVM-COMPATIBLE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AEB9C2"/>
                </a:solidFill>
                <a:latin typeface="Arial"/>
              </a:rPr>
              <a:t>standard tooling, no rewrite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5575" y="3291840"/>
            <a:ext cx="2462707" cy="1737360"/>
          </a:xfrm>
          <a:prstGeom prst="roundRect">
            <a:avLst>
              <a:gd name="adj" fmla="val 10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5031" y="3547872"/>
            <a:ext cx="20237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8FAEFF"/>
                </a:solidFill>
                <a:latin typeface="Courier New"/>
              </a:rPr>
              <a:t>DETERMINISTIC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AEB9C2"/>
                </a:solidFill>
                <a:latin typeface="Arial"/>
              </a:rPr>
              <a:t>sub-second finality for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87739" y="3291840"/>
            <a:ext cx="2462707" cy="1737360"/>
          </a:xfrm>
          <a:prstGeom prst="roundRect">
            <a:avLst>
              <a:gd name="adj" fmla="val 10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195" y="3547872"/>
            <a:ext cx="20237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8FAEFF"/>
                </a:solidFill>
                <a:latin typeface="Courier New"/>
              </a:rPr>
              <a:t>APP KITS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0">
                <a:solidFill>
                  <a:srgbClr val="AEB9C2"/>
                </a:solidFill>
                <a:latin typeface="Arial"/>
              </a:rPr>
              <a:t>CCTP: fund from any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2C3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MILESTONE PAYFI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AEB9C2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AEFF"/>
                </a:solidFill>
                <a:latin typeface="Courier New"/>
              </a:rPr>
              <a:t>09</a:t>
            </a:r>
            <a:r>
              <a:rPr sz="1300" b="1">
                <a:solidFill>
                  <a:srgbClr val="AEB9C2"/>
                </a:solidFill>
                <a:latin typeface="Courier New"/>
              </a:rPr>
              <a:t>   LIVE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>
                <a:solidFill>
                  <a:srgbClr val="F5F7F4"/>
                </a:solidFill>
                <a:latin typeface="Arial"/>
              </a:rPr>
              <a:t>Deployed. Verified. </a:t>
            </a:r>
            <a:r>
              <a:rPr sz="5200" b="1">
                <a:solidFill>
                  <a:srgbClr val="F5F7F4"/>
                </a:solidFill>
                <a:latin typeface="Arial"/>
              </a:rPr>
              <a:t>Agent-run.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606040"/>
            <a:ext cx="10509199" cy="2743200"/>
          </a:xfrm>
          <a:prstGeom prst="roundRect">
            <a:avLst>
              <a:gd name="adj" fmla="val 5000"/>
            </a:avLst>
          </a:prstGeom>
          <a:solidFill>
            <a:srgbClr val="1B201E"/>
          </a:solidFill>
          <a:ln w="12700">
            <a:solidFill>
              <a:srgbClr val="2C3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286207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FAEFF"/>
                </a:solidFill>
                <a:latin typeface="Courier New"/>
              </a:rPr>
              <a:t>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4328" y="2862072"/>
            <a:ext cx="8360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EB9C2"/>
                </a:solidFill>
                <a:latin typeface="Courier New"/>
              </a:rPr>
              <a:t>Arc Testnet · 5042002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282696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FAEFF"/>
                </a:solidFill>
                <a:latin typeface="Courier New"/>
              </a:rPr>
              <a:t>ESCROW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3282696"/>
            <a:ext cx="8360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7F4"/>
                </a:solidFill>
                <a:latin typeface="Courier New"/>
              </a:rPr>
              <a:t>0x605d5f089a27c6a4f7b1271bdc27d03e4336e314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7033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FAEFF"/>
                </a:solidFill>
                <a:latin typeface="Courier New"/>
              </a:rPr>
              <a:t>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703320"/>
            <a:ext cx="8360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7F4"/>
                </a:solidFill>
                <a:latin typeface="Courier New"/>
              </a:rPr>
              <a:t>0xc1fdb1507f489b5d426f4da398fd4da9d12e108f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123944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FAEFF"/>
                </a:solidFill>
                <a:latin typeface="Courier New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4123944"/>
            <a:ext cx="8360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F5F7F4"/>
                </a:solidFill>
                <a:latin typeface="Courier New"/>
              </a:rPr>
              <a:t>underwriter 0x3C06…093E2 · ERC-8004 id 851709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54456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FAEFF"/>
                </a:solidFill>
                <a:latin typeface="Courier New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8" y="4544568"/>
            <a:ext cx="8360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AEB9C2"/>
                </a:solidFill>
                <a:latin typeface="Courier New"/>
              </a:rPr>
              <a:t>fund → submit → approve → agent policy → advance → agent settle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96519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FAEFF"/>
                </a:solidFill>
                <a:latin typeface="Courier New"/>
              </a:rPr>
              <a:t>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4965192"/>
            <a:ext cx="83603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78E0C4"/>
                </a:solidFill>
                <a:latin typeface="Courier New"/>
              </a:rPr>
              <a:t>8 / 8 onchain steps PASS   ·   13 / 13 contract tests 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495544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EB9C2"/>
                </a:solidFill>
                <a:latin typeface="Courier New"/>
              </a:rPr>
              <a:t>testnet.arcscan.app   ·   pnpm verify:onchain   ·   pnpm contracts:test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2C3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MILESTONE PAYFI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AEB9C2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AEB9C2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594360"/>
            <a:ext cx="310896" cy="146304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16736" y="51206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45CFF"/>
                </a:solidFill>
                <a:latin typeface="Courier New"/>
              </a:rPr>
              <a:t>10</a:t>
            </a:r>
            <a:r>
              <a:rPr sz="1300" b="1">
                <a:solidFill>
                  <a:srgbClr val="66727A"/>
                </a:solidFill>
                <a:latin typeface="Courier New"/>
              </a:rPr>
              <a:t>  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0432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800" b="1">
                <a:solidFill>
                  <a:srgbClr val="101312"/>
                </a:solidFill>
                <a:latin typeface="Arial"/>
              </a:rPr>
              <a:t>From demo to desk.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108960"/>
            <a:ext cx="1940905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3346704"/>
            <a:ext cx="15385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01312"/>
                </a:solidFill>
                <a:latin typeface="Arial"/>
              </a:rPr>
              <a:t>DURABLE CORE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>
                <a:solidFill>
                  <a:srgbClr val="66727A"/>
                </a:solidFill>
                <a:latin typeface="Arial"/>
              </a:rPr>
              <a:t>Postgres store · Vercel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83321" y="3108960"/>
            <a:ext cx="1940905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4489" y="3346704"/>
            <a:ext cx="15385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01312"/>
                </a:solidFill>
                <a:latin typeface="Arial"/>
              </a:rPr>
              <a:t>COMPLIANCE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>
                <a:solidFill>
                  <a:srgbClr val="66727A"/>
                </a:solidFill>
                <a:latin typeface="Arial"/>
              </a:rPr>
              <a:t>KYB · KYC · invoices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5394" y="3108960"/>
            <a:ext cx="1940905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26562" y="3346704"/>
            <a:ext cx="15385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01312"/>
                </a:solidFill>
                <a:latin typeface="Arial"/>
              </a:rPr>
              <a:t>CREDIT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>
                <a:solidFill>
                  <a:srgbClr val="66727A"/>
                </a:solidFill>
                <a:latin typeface="Arial"/>
              </a:rPr>
              <a:t>richer agent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7468" y="3108960"/>
            <a:ext cx="1940905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8636" y="3346704"/>
            <a:ext cx="15385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01312"/>
                </a:solidFill>
                <a:latin typeface="Arial"/>
              </a:rPr>
              <a:t>LIQUIDITY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>
                <a:solidFill>
                  <a:srgbClr val="66727A"/>
                </a:solidFill>
                <a:latin typeface="Arial"/>
              </a:rPr>
              <a:t>term sheets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9541" y="3108960"/>
            <a:ext cx="1940905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0709" y="3346704"/>
            <a:ext cx="153856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01312"/>
                </a:solidFill>
                <a:latin typeface="Arial"/>
              </a:rPr>
              <a:t>MAINNET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200" b="0">
                <a:solidFill>
                  <a:srgbClr val="66727A"/>
                </a:solidFill>
                <a:latin typeface="Arial"/>
              </a:rPr>
              <a:t>Arc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6419088"/>
            <a:ext cx="10509199" cy="11430"/>
          </a:xfrm>
          <a:prstGeom prst="rect">
            <a:avLst/>
          </a:prstGeom>
          <a:solidFill>
            <a:srgbClr val="D9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MILESTONE PAYFI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4047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6727A"/>
                </a:solidFill>
                <a:latin typeface="Courier New"/>
              </a:rPr>
              <a:t>BUILT ON ARC   </a:t>
            </a:r>
            <a:r>
              <a:rPr sz="900" b="1">
                <a:solidFill>
                  <a:srgbClr val="66727A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3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4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6692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AEB9C2"/>
                </a:solidFill>
                <a:latin typeface="Courier New"/>
              </a:rPr>
              <a:t>MILESTONE PAYFI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286000"/>
            <a:ext cx="1050919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5400" b="1">
                <a:solidFill>
                  <a:srgbClr val="F5F7F4"/>
                </a:solidFill>
                <a:latin typeface="Arial"/>
              </a:rPr>
              <a:t>Approved work should pay</a:t>
            </a:r>
          </a:p>
          <a:p>
            <a:pPr algn="l">
              <a:lnSpc>
                <a:spcPct val="104000"/>
              </a:lnSpc>
              <a:spcBef>
                <a:spcPts val="200"/>
              </a:spcBef>
            </a:pPr>
            <a:r>
              <a:rPr sz="5400" b="1">
                <a:solidFill>
                  <a:srgbClr val="8FAEFF"/>
                </a:solidFill>
                <a:latin typeface="Arial"/>
              </a:rPr>
              <a:t>like it's settled.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AEB9C2"/>
                </a:solidFill>
                <a:latin typeface="Arial"/>
              </a:rPr>
              <a:t>The wedge: approved work becomes instant working capital — run by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49240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AEB9C2"/>
                </a:solidFill>
                <a:latin typeface="Courier New"/>
              </a:rPr>
              <a:t>LIVE ON ARC TESTNET   ·   ESCROW × POOL × AGENTS   ·   8/8 ONCHAIN STEPS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PayFi — Deck</dc:title>
  <dc:subject/>
  <dc:creator>Milestone PayFi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